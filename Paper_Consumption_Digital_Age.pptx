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376B3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480560"/>
            <a:ext cx="3108960" cy="3108960"/>
          </a:xfrm>
          <a:prstGeom prst="ellipse">
            <a:avLst/>
          </a:prstGeom>
          <a:solidFill>
            <a:srgbClr val="245424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376B3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ED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RESOURCE CONSUMPTION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8778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Consumption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Digital Age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E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Impacts and Sustainable Alternatives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245424"/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" y="4782312"/>
            <a:ext cx="548640" cy="548640"/>
          </a:xfrm>
          <a:prstGeom prst="ellipse">
            <a:avLst/>
          </a:prstGeom>
          <a:solidFill>
            <a:srgbClr val="376B37"/>
          </a:solidFill>
          <a:ln/>
        </p:spPr>
      </p:sp>
      <p:pic>
        <p:nvPicPr>
          <p:cNvPr id="10" name="Image 0" descr="/home/claude/ppt/icon_leaf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" y="4905756"/>
            <a:ext cx="301752" cy="30175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91640" y="4645152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Consumption &amp; Waste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03320" y="452628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245424"/>
          </a:solidFill>
          <a:ln/>
        </p:spPr>
      </p:sp>
      <p:sp>
        <p:nvSpPr>
          <p:cNvPr id="13" name="Shape 10"/>
          <p:cNvSpPr/>
          <p:nvPr/>
        </p:nvSpPr>
        <p:spPr>
          <a:xfrm>
            <a:off x="3904488" y="4782312"/>
            <a:ext cx="548640" cy="548640"/>
          </a:xfrm>
          <a:prstGeom prst="ellipse">
            <a:avLst/>
          </a:prstGeom>
          <a:solidFill>
            <a:srgbClr val="376B37"/>
          </a:solidFill>
          <a:ln/>
        </p:spPr>
      </p:sp>
      <p:pic>
        <p:nvPicPr>
          <p:cNvPr id="14" name="Image 1" descr="/home/claude/ppt/icon_laptop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7932" y="4905756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0" y="4645152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Impact &amp; Emissions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583680" y="452628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245424"/>
          </a:solidFill>
          <a:ln/>
        </p:spPr>
      </p:sp>
      <p:sp>
        <p:nvSpPr>
          <p:cNvPr id="17" name="Shape 13"/>
          <p:cNvSpPr/>
          <p:nvPr/>
        </p:nvSpPr>
        <p:spPr>
          <a:xfrm>
            <a:off x="6784848" y="4782312"/>
            <a:ext cx="548640" cy="548640"/>
          </a:xfrm>
          <a:prstGeom prst="ellipse">
            <a:avLst/>
          </a:prstGeom>
          <a:solidFill>
            <a:srgbClr val="376B37"/>
          </a:solidFill>
          <a:ln/>
        </p:spPr>
      </p:sp>
      <p:pic>
        <p:nvPicPr>
          <p:cNvPr id="18" name="Image 2" descr="/home/claude/ppt/icon_recycl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292" y="4905756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452360" y="4645152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Alternatives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6080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Ishika  •  Arpan  •  Kartik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63825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D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(AI &amp; ML)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&amp; Objective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/home/claude/ppt/icon_boo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83337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18488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remains essential in education, communication, administration, and packaging.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71576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8" name="Image 1" descr="/home/claude/ppt/icon_laptop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857500"/>
            <a:ext cx="283464" cy="2834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642616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alternatives — e-books, cloud storage, online forms, digital payments — can reduce unnecessary printing.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3739896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2" descr="/home/claude/ppt/icon_bol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88162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3666744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technology carries its own footprint: electricity use, devices, and electronic waste.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48640" y="4764024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4" name="Image 3" descr="/home/claude/ppt/icon_balanc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905756"/>
            <a:ext cx="283464" cy="28346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4690872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sustainable choice is to use paper and digital systems responsibly, side by side.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6903720" y="1691640"/>
            <a:ext cx="4709160" cy="4160520"/>
          </a:xfrm>
          <a:prstGeom prst="roundRect">
            <a:avLst>
              <a:gd name="adj" fmla="val 2637"/>
            </a:avLst>
          </a:prstGeom>
          <a:solidFill>
            <a:srgbClr val="E5EEDC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7269480" y="19659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7269480" y="228600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is essential, but unnecessary printing harms the environment. Digital tools help, but carry an e-waste cost of their own.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7269480" y="32918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7269480" y="358444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6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use of both systems.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7269480" y="4160520"/>
            <a:ext cx="3977640" cy="0"/>
          </a:xfrm>
          <a:prstGeom prst="line">
            <a:avLst/>
          </a:prstGeom>
          <a:noFill/>
          <a:ln w="12700">
            <a:solidFill>
              <a:srgbClr val="C7DAB9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269480" y="43159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 OF THIS STUDY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269480" y="4700016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7470648" y="459028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Use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7269480" y="5010912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7470648" y="490118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7269480" y="5321808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7470648" y="52120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Alternatives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7269480" y="5632704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7470648" y="552297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Future</a:t>
            </a:r>
            <a:endParaRPr lang="en-US" sz="1250" dirty="0"/>
          </a:p>
        </p:txBody>
      </p:sp>
      <p:sp>
        <p:nvSpPr>
          <p:cNvPr id="31" name="Text 2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OF PAPER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Lifecycle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194560"/>
            <a:ext cx="1417320" cy="1874520"/>
          </a:xfrm>
          <a:prstGeom prst="roundRect">
            <a:avLst>
              <a:gd name="adj" fmla="val 6452"/>
            </a:avLst>
          </a:prstGeom>
          <a:solidFill>
            <a:srgbClr val="E5EEDC"/>
          </a:solidFill>
          <a:ln/>
        </p:spPr>
      </p:sp>
      <p:sp>
        <p:nvSpPr>
          <p:cNvPr id="5" name="Shape 3"/>
          <p:cNvSpPr/>
          <p:nvPr/>
        </p:nvSpPr>
        <p:spPr>
          <a:xfrm>
            <a:off x="891540" y="24231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/home/claude/ppt/icon_tre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558" y="2567178"/>
            <a:ext cx="352044" cy="3520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57784" y="3246120"/>
            <a:ext cx="1307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046988" y="1993392"/>
            <a:ext cx="329184" cy="32918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46988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965960" y="3049524"/>
            <a:ext cx="128016" cy="164592"/>
          </a:xfrm>
          <a:prstGeom prst="rightArrow">
            <a:avLst/>
          </a:prstGeom>
          <a:solidFill>
            <a:srgbClr val="C7DAB9"/>
          </a:solidFill>
          <a:ln/>
        </p:spPr>
      </p:sp>
      <p:sp>
        <p:nvSpPr>
          <p:cNvPr id="11" name="Shape 8"/>
          <p:cNvSpPr/>
          <p:nvPr/>
        </p:nvSpPr>
        <p:spPr>
          <a:xfrm>
            <a:off x="2139696" y="2194560"/>
            <a:ext cx="1417320" cy="1874520"/>
          </a:xfrm>
          <a:prstGeom prst="roundRect">
            <a:avLst>
              <a:gd name="adj" fmla="val 6452"/>
            </a:avLst>
          </a:prstGeom>
          <a:solidFill>
            <a:srgbClr val="DCEFF0"/>
          </a:solidFill>
          <a:ln/>
        </p:spPr>
      </p:sp>
      <p:sp>
        <p:nvSpPr>
          <p:cNvPr id="12" name="Shape 9"/>
          <p:cNvSpPr/>
          <p:nvPr/>
        </p:nvSpPr>
        <p:spPr>
          <a:xfrm>
            <a:off x="2528316" y="24231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/home/claude/ppt/icon_industry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334" y="2567178"/>
            <a:ext cx="352044" cy="3520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194560" y="3246120"/>
            <a:ext cx="1307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683764" y="1993392"/>
            <a:ext cx="329184" cy="32918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2683764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602736" y="3049524"/>
            <a:ext cx="128016" cy="164592"/>
          </a:xfrm>
          <a:prstGeom prst="rightArrow">
            <a:avLst/>
          </a:prstGeom>
          <a:solidFill>
            <a:srgbClr val="C7DAB9"/>
          </a:solidFill>
          <a:ln/>
        </p:spPr>
      </p:sp>
      <p:sp>
        <p:nvSpPr>
          <p:cNvPr id="18" name="Shape 14"/>
          <p:cNvSpPr/>
          <p:nvPr/>
        </p:nvSpPr>
        <p:spPr>
          <a:xfrm>
            <a:off x="3776472" y="2194560"/>
            <a:ext cx="1417320" cy="1874520"/>
          </a:xfrm>
          <a:prstGeom prst="roundRect">
            <a:avLst>
              <a:gd name="adj" fmla="val 6452"/>
            </a:avLst>
          </a:prstGeom>
          <a:solidFill>
            <a:srgbClr val="E5EEDC"/>
          </a:solidFill>
          <a:ln/>
        </p:spPr>
      </p:sp>
      <p:sp>
        <p:nvSpPr>
          <p:cNvPr id="19" name="Shape 15"/>
          <p:cNvSpPr/>
          <p:nvPr/>
        </p:nvSpPr>
        <p:spPr>
          <a:xfrm>
            <a:off x="4165092" y="24231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0" name="Image 2" descr="/home/claude/ppt/icon_tin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110" y="2567178"/>
            <a:ext cx="352044" cy="35204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831336" y="3246120"/>
            <a:ext cx="1307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320540" y="1993392"/>
            <a:ext cx="329184" cy="32918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320540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239512" y="3049524"/>
            <a:ext cx="128016" cy="164592"/>
          </a:xfrm>
          <a:prstGeom prst="rightArrow">
            <a:avLst/>
          </a:prstGeom>
          <a:solidFill>
            <a:srgbClr val="C7DAB9"/>
          </a:solidFill>
          <a:ln/>
        </p:spPr>
      </p:sp>
      <p:sp>
        <p:nvSpPr>
          <p:cNvPr id="25" name="Shape 20"/>
          <p:cNvSpPr/>
          <p:nvPr/>
        </p:nvSpPr>
        <p:spPr>
          <a:xfrm>
            <a:off x="5413248" y="2194560"/>
            <a:ext cx="1417320" cy="1874520"/>
          </a:xfrm>
          <a:prstGeom prst="roundRect">
            <a:avLst>
              <a:gd name="adj" fmla="val 6452"/>
            </a:avLst>
          </a:prstGeom>
          <a:solidFill>
            <a:srgbClr val="DCEFF0"/>
          </a:solidFill>
          <a:ln/>
        </p:spPr>
      </p:sp>
      <p:sp>
        <p:nvSpPr>
          <p:cNvPr id="26" name="Shape 21"/>
          <p:cNvSpPr/>
          <p:nvPr/>
        </p:nvSpPr>
        <p:spPr>
          <a:xfrm>
            <a:off x="5801868" y="24231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7" name="Image 3" descr="/home/claude/ppt/icon_industry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5886" y="2567178"/>
            <a:ext cx="352044" cy="35204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5468112" y="3246120"/>
            <a:ext cx="1307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Production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957316" y="1993392"/>
            <a:ext cx="329184" cy="32918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5957316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6876288" y="3049524"/>
            <a:ext cx="128016" cy="164592"/>
          </a:xfrm>
          <a:prstGeom prst="rightArrow">
            <a:avLst/>
          </a:prstGeom>
          <a:solidFill>
            <a:srgbClr val="C7DAB9"/>
          </a:solidFill>
          <a:ln/>
        </p:spPr>
      </p:sp>
      <p:sp>
        <p:nvSpPr>
          <p:cNvPr id="32" name="Shape 26"/>
          <p:cNvSpPr/>
          <p:nvPr/>
        </p:nvSpPr>
        <p:spPr>
          <a:xfrm>
            <a:off x="7050024" y="2194560"/>
            <a:ext cx="1417320" cy="1874520"/>
          </a:xfrm>
          <a:prstGeom prst="roundRect">
            <a:avLst>
              <a:gd name="adj" fmla="val 6452"/>
            </a:avLst>
          </a:prstGeom>
          <a:solidFill>
            <a:srgbClr val="E5EEDC"/>
          </a:solidFill>
          <a:ln/>
        </p:spPr>
      </p:sp>
      <p:sp>
        <p:nvSpPr>
          <p:cNvPr id="33" name="Shape 27"/>
          <p:cNvSpPr/>
          <p:nvPr/>
        </p:nvSpPr>
        <p:spPr>
          <a:xfrm>
            <a:off x="7438644" y="24231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4" name="Image 4" descr="/home/claude/ppt/icon_fil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2662" y="2567178"/>
            <a:ext cx="352044" cy="352044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7104888" y="3246120"/>
            <a:ext cx="1307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7594092" y="1993392"/>
            <a:ext cx="329184" cy="32918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7594092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8513064" y="3049524"/>
            <a:ext cx="128016" cy="164592"/>
          </a:xfrm>
          <a:prstGeom prst="rightArrow">
            <a:avLst/>
          </a:prstGeom>
          <a:solidFill>
            <a:srgbClr val="C7DAB9"/>
          </a:solidFill>
          <a:ln/>
        </p:spPr>
      </p:sp>
      <p:sp>
        <p:nvSpPr>
          <p:cNvPr id="39" name="Shape 32"/>
          <p:cNvSpPr/>
          <p:nvPr/>
        </p:nvSpPr>
        <p:spPr>
          <a:xfrm>
            <a:off x="8686800" y="2194560"/>
            <a:ext cx="1417320" cy="1874520"/>
          </a:xfrm>
          <a:prstGeom prst="roundRect">
            <a:avLst>
              <a:gd name="adj" fmla="val 6452"/>
            </a:avLst>
          </a:prstGeom>
          <a:solidFill>
            <a:srgbClr val="DCEFF0"/>
          </a:solidFill>
          <a:ln/>
        </p:spPr>
      </p:sp>
      <p:sp>
        <p:nvSpPr>
          <p:cNvPr id="40" name="Shape 33"/>
          <p:cNvSpPr/>
          <p:nvPr/>
        </p:nvSpPr>
        <p:spPr>
          <a:xfrm>
            <a:off x="9075420" y="24231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1" name="Image 5" descr="/home/claude/ppt/icon_recycl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9438" y="2567178"/>
            <a:ext cx="352044" cy="352044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8741664" y="3246120"/>
            <a:ext cx="1307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9230868" y="1993392"/>
            <a:ext cx="329184" cy="32918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4" name="Text 36"/>
          <p:cNvSpPr txBox="1"/>
          <p:nvPr/>
        </p:nvSpPr>
        <p:spPr>
          <a:xfrm>
            <a:off x="9230868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5" name="Shape 37"/>
          <p:cNvSpPr/>
          <p:nvPr/>
        </p:nvSpPr>
        <p:spPr>
          <a:xfrm>
            <a:off x="10149840" y="3049524"/>
            <a:ext cx="128016" cy="164592"/>
          </a:xfrm>
          <a:prstGeom prst="rightArrow">
            <a:avLst/>
          </a:prstGeom>
          <a:solidFill>
            <a:srgbClr val="C7DAB9"/>
          </a:solidFill>
          <a:ln/>
        </p:spPr>
      </p:sp>
      <p:sp>
        <p:nvSpPr>
          <p:cNvPr id="46" name="Shape 38"/>
          <p:cNvSpPr/>
          <p:nvPr/>
        </p:nvSpPr>
        <p:spPr>
          <a:xfrm>
            <a:off x="10323576" y="2194560"/>
            <a:ext cx="1417320" cy="1874520"/>
          </a:xfrm>
          <a:prstGeom prst="roundRect">
            <a:avLst>
              <a:gd name="adj" fmla="val 6452"/>
            </a:avLst>
          </a:prstGeom>
          <a:solidFill>
            <a:srgbClr val="E5EEDC"/>
          </a:solidFill>
          <a:ln/>
        </p:spPr>
      </p:sp>
      <p:sp>
        <p:nvSpPr>
          <p:cNvPr id="47" name="Shape 39"/>
          <p:cNvSpPr/>
          <p:nvPr/>
        </p:nvSpPr>
        <p:spPr>
          <a:xfrm>
            <a:off x="10712196" y="24231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48" name="Image 6" descr="/home/claude/ppt/icon_recycle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6214" y="2567178"/>
            <a:ext cx="352044" cy="352044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10378440" y="3246120"/>
            <a:ext cx="1307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Reuse, Recycle, Disposal</a:t>
            </a:r>
            <a:endParaRPr lang="en-US" sz="1100" dirty="0"/>
          </a:p>
        </p:txBody>
      </p:sp>
      <p:sp>
        <p:nvSpPr>
          <p:cNvPr id="50" name="Shape 41"/>
          <p:cNvSpPr/>
          <p:nvPr/>
        </p:nvSpPr>
        <p:spPr>
          <a:xfrm>
            <a:off x="10867644" y="1993392"/>
            <a:ext cx="329184" cy="32918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1" name="Text 42"/>
          <p:cNvSpPr txBox="1"/>
          <p:nvPr/>
        </p:nvSpPr>
        <p:spPr>
          <a:xfrm>
            <a:off x="10867644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2" name="Text 43"/>
          <p:cNvSpPr txBox="1"/>
          <p:nvPr/>
        </p:nvSpPr>
        <p:spPr>
          <a:xfrm>
            <a:off x="548640" y="4480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 move from forest to finished product — every stage adds water, energy, and emissions before final disposal or recycling.</a:t>
            </a:r>
            <a:endParaRPr lang="en-US" sz="1350" dirty="0"/>
          </a:p>
        </p:txBody>
      </p:sp>
      <p:sp>
        <p:nvSpPr>
          <p:cNvPr id="53" name="Text 4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ALL ADDS UP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Consumption in Daily Life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423160"/>
          </a:xfrm>
          <a:prstGeom prst="roundRect">
            <a:avLst>
              <a:gd name="adj" fmla="val 5283"/>
            </a:avLst>
          </a:prstGeom>
          <a:solidFill>
            <a:srgbClr val="E5EED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/home/claude/ppt/icon_boo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985" y="2257425"/>
            <a:ext cx="377190" cy="3771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9260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31927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Notebooks, textbooks, assignments, worksheets, and examination sheets.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520440" cy="2423160"/>
          </a:xfrm>
          <a:prstGeom prst="roundRect">
            <a:avLst>
              <a:gd name="adj" fmla="val 5283"/>
            </a:avLst>
          </a:prstGeom>
          <a:solidFill>
            <a:srgbClr val="DCEFF0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10312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ppt/icon_buildin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025" y="225742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9260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31927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files, invoices, forms, and photocopies.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520440" cy="2423160"/>
          </a:xfrm>
          <a:prstGeom prst="roundRect">
            <a:avLst>
              <a:gd name="adj" fmla="val 5283"/>
            </a:avLst>
          </a:prstGeom>
          <a:solidFill>
            <a:srgbClr val="F7E7E4"/>
          </a:solidFill>
          <a:ln/>
        </p:spPr>
      </p:sp>
      <p:sp>
        <p:nvSpPr>
          <p:cNvPr id="15" name="Shape 11"/>
          <p:cNvSpPr/>
          <p:nvPr/>
        </p:nvSpPr>
        <p:spPr>
          <a:xfrm>
            <a:off x="8366760" y="2103120"/>
            <a:ext cx="685800" cy="6858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6" name="Image 2" descr="/home/claude/ppt/icon_fil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1065" y="2257425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29260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Businesses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331927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Bills, advertisements, brochures, and product packaging.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43484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2C5F2D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4690872"/>
            <a:ext cx="685800" cy="685800"/>
          </a:xfrm>
          <a:prstGeom prst="ellipse">
            <a:avLst/>
          </a:prstGeom>
          <a:solidFill>
            <a:srgbClr val="376B37"/>
          </a:solidFill>
          <a:ln/>
        </p:spPr>
      </p:sp>
      <p:pic>
        <p:nvPicPr>
          <p:cNvPr id="21" name="Image 3" descr="/home/claude/ppt/icon_warning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265" y="4845177"/>
            <a:ext cx="377190" cy="37719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91640" y="4553712"/>
            <a:ext cx="9646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AED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Unnecessary printing is common when documents could be stored or shared digitally. Paper itself is useful — the real concern is unnecessary printing, single-use products, and poor recycling.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 — I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of Paper Production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ppt/icon_industr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1869948"/>
            <a:ext cx="265176" cy="2651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682496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production requires raw materials, water, energy, and chemicals.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633472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/home/claude/ppt/icon_bol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" y="2766060"/>
            <a:ext cx="265176" cy="26517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57860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of wood, pulp, and finished paper adds further energy use and emissions.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3529584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2" descr="/home/claude/ppt/icon_tin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" y="3662172"/>
            <a:ext cx="265176" cy="26517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80160" y="347472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can generate wastewater and other forms of pollution.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4425696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3" descr="/home/claude/ppt/icon_leaf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" y="4558284"/>
            <a:ext cx="265176" cy="26517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80160" y="437083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unnecessary paper demand lowers pressure across the entire production chain.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7178040" y="1737360"/>
            <a:ext cx="4434840" cy="4160520"/>
          </a:xfrm>
          <a:prstGeom prst="roundRect">
            <a:avLst>
              <a:gd name="adj" fmla="val 3077"/>
            </a:avLst>
          </a:prstGeom>
          <a:solidFill>
            <a:srgbClr val="028090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7543800" y="20116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7543800" y="233172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water per ton. Energy for drying. Pollution if untreated. Landfill waste.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7543800" y="3474720"/>
            <a:ext cx="3703320" cy="0"/>
          </a:xfrm>
          <a:prstGeom prst="line">
            <a:avLst/>
          </a:prstGeom>
          <a:noFill/>
          <a:ln w="12700">
            <a:solidFill>
              <a:srgbClr val="3FA7B4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543800" y="3657600"/>
            <a:ext cx="3703320" cy="475488"/>
          </a:xfrm>
          <a:prstGeom prst="roundRect">
            <a:avLst>
              <a:gd name="adj" fmla="val 15385"/>
            </a:avLst>
          </a:prstGeom>
          <a:solidFill>
            <a:srgbClr val="017A88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7772400" y="365760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waste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7543800" y="4279392"/>
            <a:ext cx="3703320" cy="475488"/>
          </a:xfrm>
          <a:prstGeom prst="roundRect">
            <a:avLst>
              <a:gd name="adj" fmla="val 15385"/>
            </a:avLst>
          </a:prstGeom>
          <a:solidFill>
            <a:srgbClr val="017A88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7772400" y="4279392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emissions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7543800" y="4901184"/>
            <a:ext cx="3703320" cy="475488"/>
          </a:xfrm>
          <a:prstGeom prst="roundRect">
            <a:avLst>
              <a:gd name="adj" fmla="val 15385"/>
            </a:avLst>
          </a:prstGeom>
          <a:solidFill>
            <a:srgbClr val="017A88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7772400" y="490118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pressure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 — II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Forests &amp; Biodiversity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4160520"/>
          </a:xfrm>
          <a:prstGeom prst="roundRect">
            <a:avLst>
              <a:gd name="adj" fmla="val 3077"/>
            </a:avLst>
          </a:prstGeom>
          <a:solidFill>
            <a:srgbClr val="E5EED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/home/claude/ppt/icon_tre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985" y="2165985"/>
            <a:ext cx="377190" cy="3771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8803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absorb carbon dioxide, release oxygen, help prevent soil erosion, and provide habitats.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86791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forest clearing for wood and pulp can affect biodiversity.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85546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 loss and reduced carbon storage can contribute to climate imbalance.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1737360"/>
            <a:ext cx="5303520" cy="4160520"/>
          </a:xfrm>
          <a:prstGeom prst="roundRect">
            <a:avLst>
              <a:gd name="adj" fmla="val 3077"/>
            </a:avLst>
          </a:prstGeom>
          <a:solidFill>
            <a:srgbClr val="DCEFF0"/>
          </a:solidFill>
          <a:ln/>
        </p:spPr>
      </p:sp>
      <p:sp>
        <p:nvSpPr>
          <p:cNvPr id="11" name="Shape 8"/>
          <p:cNvSpPr/>
          <p:nvPr/>
        </p:nvSpPr>
        <p:spPr>
          <a:xfrm>
            <a:off x="6629400" y="20116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ppt/icon_tin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705" y="216598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29400" y="27614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WATER, ENERGY &amp; WASTE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629400" y="312724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production uses water and energy at several stages.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629400" y="408736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disposal increases landfill waste and resource loss.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629400" y="504748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Recycling helps recover material and reduces the need for fresh resources.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SIDE-BY-SIDE LOOK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System vs Digital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297680"/>
          </a:xfrm>
          <a:prstGeom prst="roundRect">
            <a:avLst>
              <a:gd name="adj" fmla="val 2979"/>
            </a:avLst>
          </a:prstGeom>
          <a:solidFill>
            <a:srgbClr val="E5EEDC"/>
          </a:solidFill>
          <a:ln/>
        </p:spPr>
      </p:sp>
      <p:sp>
        <p:nvSpPr>
          <p:cNvPr id="5" name="Shape 3"/>
          <p:cNvSpPr/>
          <p:nvPr/>
        </p:nvSpPr>
        <p:spPr>
          <a:xfrm>
            <a:off x="6355080" y="1691640"/>
            <a:ext cx="5257800" cy="4297680"/>
          </a:xfrm>
          <a:prstGeom prst="roundRect">
            <a:avLst>
              <a:gd name="adj" fmla="val 2979"/>
            </a:avLst>
          </a:prstGeom>
          <a:solidFill>
            <a:srgbClr val="DCEF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202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SYSTEM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720840" y="19202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SYSTEM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6888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Use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76148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trees (raw material from forest); paper produced from wood pulp.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63931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93192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trucks, cargo ships, and waterways — fuel consumption and emissions during shipping.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80974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Output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10235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physical paper waste, discarded to landfill; biodegradable but accumulates as waste.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246888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Use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276148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electronic devices — metals, plastics, and rare minerals; requires hardware manufacturing.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363931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Use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393192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electricity through data centres and cloud servers — continuous energy consumption.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480974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Output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510235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e-waste — batteries, circuits, and components; toxic and hard to recycle.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WHAT WE USE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Waste and the 5 R's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11680" cy="2880360"/>
          </a:xfrm>
          <a:prstGeom prst="roundRect">
            <a:avLst>
              <a:gd name="adj" fmla="val 6364"/>
            </a:avLst>
          </a:prstGeom>
          <a:solidFill>
            <a:srgbClr val="E5EEDC"/>
          </a:solidFill>
          <a:ln/>
        </p:spPr>
      </p:sp>
      <p:sp>
        <p:nvSpPr>
          <p:cNvPr id="5" name="Shape 3"/>
          <p:cNvSpPr/>
          <p:nvPr/>
        </p:nvSpPr>
        <p:spPr>
          <a:xfrm>
            <a:off x="1261872" y="2103120"/>
            <a:ext cx="585216" cy="58521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61872" y="2103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6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Refuse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9184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no to unnecessary printouts and flyers.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1488" y="1828800"/>
            <a:ext cx="2011680" cy="2880360"/>
          </a:xfrm>
          <a:prstGeom prst="roundRect">
            <a:avLst>
              <a:gd name="adj" fmla="val 6364"/>
            </a:avLst>
          </a:prstGeom>
          <a:solidFill>
            <a:srgbClr val="DCEFF0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0" y="2103120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2103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89864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6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2898648" y="329184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only essential pages.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974336" y="1828800"/>
            <a:ext cx="2011680" cy="2880360"/>
          </a:xfrm>
          <a:prstGeom prst="roundRect">
            <a:avLst>
              <a:gd name="adj" fmla="val 6364"/>
            </a:avLst>
          </a:prstGeom>
          <a:solidFill>
            <a:srgbClr val="E5EEDC"/>
          </a:solidFill>
          <a:ln/>
        </p:spPr>
      </p:sp>
      <p:sp>
        <p:nvSpPr>
          <p:cNvPr id="15" name="Shape 13"/>
          <p:cNvSpPr/>
          <p:nvPr/>
        </p:nvSpPr>
        <p:spPr>
          <a:xfrm>
            <a:off x="5687568" y="2103120"/>
            <a:ext cx="585216" cy="58521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87568" y="2103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111496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6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5111496" y="329184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one-sided sheets for rough work.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87184" y="1828800"/>
            <a:ext cx="2011680" cy="2880360"/>
          </a:xfrm>
          <a:prstGeom prst="roundRect">
            <a:avLst>
              <a:gd name="adj" fmla="val 6364"/>
            </a:avLst>
          </a:prstGeom>
          <a:solidFill>
            <a:srgbClr val="DCEFF0"/>
          </a:solidFill>
          <a:ln/>
        </p:spPr>
      </p:sp>
      <p:sp>
        <p:nvSpPr>
          <p:cNvPr id="20" name="Shape 18"/>
          <p:cNvSpPr/>
          <p:nvPr/>
        </p:nvSpPr>
        <p:spPr>
          <a:xfrm>
            <a:off x="7900416" y="2103120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900416" y="2103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324344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6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Repurpose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7324344" y="329184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old paper and cardboard for projects.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400032" y="1828800"/>
            <a:ext cx="2011680" cy="2880360"/>
          </a:xfrm>
          <a:prstGeom prst="roundRect">
            <a:avLst>
              <a:gd name="adj" fmla="val 6364"/>
            </a:avLst>
          </a:prstGeom>
          <a:solidFill>
            <a:srgbClr val="E5EEDC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13264" y="2103120"/>
            <a:ext cx="585216" cy="58521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113264" y="2103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537192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6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Recycle</a:t>
            </a:r>
            <a:endParaRPr lang="en-US" sz="1650" dirty="0"/>
          </a:p>
        </p:txBody>
      </p:sp>
      <p:sp>
        <p:nvSpPr>
          <p:cNvPr id="28" name="Text 26"/>
          <p:cNvSpPr txBox="1"/>
          <p:nvPr/>
        </p:nvSpPr>
        <p:spPr>
          <a:xfrm>
            <a:off x="9537192" y="329184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clean paper into recycling bins.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paper waste using the 5 R's helps protect the environment and cut down on landfill trash.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AI/ML COMES IN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ML for Sustainable Paper Use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/home/claude/ppt/icon_brai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2089404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1109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Document Handling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295144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identify documents that can be stored digitally instead of printed; supports classification, search, and automated workflows.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73952" y="194767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ppt/icon_clipboar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684" y="2089404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191109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223760" y="2295144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can predict printing demand and help organisations avoid unnecessary stock.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4142232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2" descr="/home/claude/ppt/icon_fil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4283964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10565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Dashboards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489704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dashboards can track paper use, waste, and recycling performance.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88620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73952" y="414223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claude/ppt/icon_bol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684" y="4283964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23760" y="410565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Models &amp; Green Compute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223760" y="4489704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large models via pruning, quantization, and distillation; run heavy training in data centres powered by wind or solar; shift compute to hours when clean energy is abundant.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INTO PRACTICE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Sustainable Action Plan — at LPU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46504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46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167335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online assignment submission wherever allowed.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8775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87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25146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printers to double-sided printing by default.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335584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QR codes for routine notices, event details, and forms.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27024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270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4197096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notes through LMS platforms, e-mail, or cloud drives.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111496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11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87552" y="5038344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separate bins for clean paper collection.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1746504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63640" y="1746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702552" y="167335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recycled paper for non-official printing.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258775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63640" y="2587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702552" y="25146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students to carry digital copies of notes.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63640" y="3429000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63640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702552" y="335584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awareness campaigns such as “Think Before You Print.”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63640" y="427024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63640" y="4270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702552" y="4197096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printing use through a digital dashboard.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63640" y="5111496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63640" y="5111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702552" y="5038344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old electronic devices to authorised e-waste collection systems.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BALANCED APPROACH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Choice: Paper + Digital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/home/claude/ppt/icon_fi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80594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61848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important or legally required records in appropriate formats.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8" name="Image 1" descr="/home/claude/ppt/icon_laptop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3177540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99008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digital sharing for collaboration and routine communication.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2" descr="/home/claude/ppt/icon_recycl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454914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436168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double-sided, avoid unnecessary copies, recycle clean paper, and responsibly dispose of electronic devices.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263640" y="16916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3" descr="/home/claude/ppt/icon_boo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940" y="1805940"/>
            <a:ext cx="228600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58000" y="161848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classrooms provide structure, while digital apps let students practice further.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263640" y="3063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4" descr="/home/claude/ppt/icon_clipboar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3177540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858000" y="299008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(Google Drive, OneDrive, Dropbox) removes the need for physical filing cabinets and printed layouts.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6263640" y="44348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5" descr="/home/claude/ppt/icon_balanc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7940" y="4549140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858000" y="436168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tools like Notion, Slack, and Google Docs let teams edit together without printing multiple drafts.</a:t>
            </a:r>
            <a:endParaRPr lang="en-US" sz="1200" dirty="0"/>
          </a:p>
        </p:txBody>
      </p:sp>
      <p:sp>
        <p:nvSpPr>
          <p:cNvPr id="22" name="Text 1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4572000" cy="4572000"/>
          </a:xfrm>
          <a:prstGeom prst="ellipse">
            <a:avLst/>
          </a:prstGeom>
          <a:solidFill>
            <a:srgbClr val="376B37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24542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ED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868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847088"/>
            <a:ext cx="109728" cy="1097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170992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is useful, but excessive and careless consumption creates environmental problems.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505456"/>
            <a:ext cx="109728" cy="1097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2368296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contributes to pressure on forests, water and energy use, pollution, and waste generation.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163824"/>
            <a:ext cx="109728" cy="1097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3026664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technology offers useful alternatives for education, administration, and communication.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22192"/>
            <a:ext cx="109728" cy="1097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3685032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sustainable future needs both smart technology and responsible behaviour.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23760" y="1463040"/>
            <a:ext cx="4389120" cy="4206240"/>
          </a:xfrm>
          <a:prstGeom prst="roundRect">
            <a:avLst>
              <a:gd name="adj" fmla="val 3043"/>
            </a:avLst>
          </a:prstGeom>
          <a:solidFill>
            <a:srgbClr val="2454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8952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AED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589520" y="2212848"/>
            <a:ext cx="91440" cy="914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90688" y="2093976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Nations Environment Programme (UNEP)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0" y="2834640"/>
            <a:ext cx="91440" cy="914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90688" y="271576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and Agriculture Organisation (FAO)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0" y="3456432"/>
            <a:ext cx="91440" cy="914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90688" y="33375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Science textbooks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89520" y="4078224"/>
            <a:ext cx="91440" cy="914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90688" y="395935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articles on e-waste and sustainable computing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89520" y="4700016"/>
            <a:ext cx="91440" cy="914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90688" y="4581144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library and educational websites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6172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9EC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2026-09-12T11:01:45Z</dcterms:created>
  <dcterms:modified xsi:type="dcterms:W3CDTF">2026-09-12T11:01:45Z</dcterms:modified>
</cp:coreProperties>
</file>